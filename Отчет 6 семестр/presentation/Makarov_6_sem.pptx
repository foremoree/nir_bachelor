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8"/>
  </p:notesMasterIdLst>
  <p:sldIdLst>
    <p:sldId id="256" r:id="rId2"/>
    <p:sldId id="258" r:id="rId3"/>
    <p:sldId id="268" r:id="rId4"/>
    <p:sldId id="270" r:id="rId5"/>
    <p:sldId id="272" r:id="rId6"/>
    <p:sldId id="267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92CA"/>
    <a:srgbClr val="F1F1EE"/>
    <a:srgbClr val="525B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60"/>
  </p:normalViewPr>
  <p:slideViewPr>
    <p:cSldViewPr snapToGrid="0">
      <p:cViewPr varScale="1">
        <p:scale>
          <a:sx n="71" d="100"/>
          <a:sy n="71" d="100"/>
        </p:scale>
        <p:origin x="576" y="6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36C68-DDAB-4D09-8E72-8E937BD7768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8289E-2F4B-4BDB-9E3D-307BE649A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79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15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043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666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413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006A-6BE7-43E8-8AD6-C09FC266B36F}" type="datetime1">
              <a:rPr lang="ru-RU" smtClean="0"/>
              <a:t>03.05.2026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84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13183-B2A1-4784-80CE-65A33D52CB0B}" type="datetime1">
              <a:rPr lang="ru-RU" smtClean="0"/>
              <a:t>03.05.2026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8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88E9-D2C3-4436-BFEE-5F0C2E0896FE}" type="datetime1">
              <a:rPr lang="ru-RU" smtClean="0"/>
              <a:t>03.05.2026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74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BC7-66CE-44BA-84C4-ADF5D358A8E5}" type="datetime1">
              <a:rPr lang="ru-RU" smtClean="0"/>
              <a:t>03.05.2026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50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F641-8A7B-48BB-9924-29525D09D843}" type="datetime1">
              <a:rPr lang="ru-RU" smtClean="0"/>
              <a:t>03.05.2026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41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CC1A-CDB1-4CBC-83A8-3EB958439194}" type="datetime1">
              <a:rPr lang="ru-RU" smtClean="0"/>
              <a:t>03.05.2026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16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C5F1-78C0-4305-B0EC-8CEF047F6C93}" type="datetime1">
              <a:rPr lang="ru-RU" smtClean="0"/>
              <a:t>03.05.2026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14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670FB-17C0-4434-90C8-A4668EF13565}" type="datetime1">
              <a:rPr lang="ru-RU" smtClean="0"/>
              <a:t>03.05.2026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24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D1FD-3FC4-47EA-B2EB-FF46800F6009}" type="datetime1">
              <a:rPr lang="ru-RU" smtClean="0"/>
              <a:t>03.05.2026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02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85EE-4AB9-42CD-8126-E74FE77A9ED8}" type="datetime1">
              <a:rPr lang="ru-RU" smtClean="0"/>
              <a:t>03.05.2026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3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916C-83BE-4CC1-8A21-D05CD30C43DB}" type="datetime1">
              <a:rPr lang="ru-RU" smtClean="0"/>
              <a:t>03.05.2026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18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09404-ED28-47FE-9DC5-C6BCEA110D1D}" type="datetime1">
              <a:rPr lang="ru-RU" smtClean="0"/>
              <a:t>03.05.2026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6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06758" y="2825369"/>
            <a:ext cx="3831772" cy="132343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Elektra Text Pro" panose="02000503030000020004" pitchFamily="50" charset="-52"/>
              </a:rPr>
              <a:t>Исследование методов реконструкции 3D форм объектов по облаку точек</a:t>
            </a:r>
            <a:endParaRPr lang="en-US" sz="2000" dirty="0">
              <a:solidFill>
                <a:schemeClr val="bg1"/>
              </a:solidFill>
              <a:latin typeface="Elektra Text Pro" panose="02000503030000020004" pitchFamily="50" charset="-52"/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Elektra Text Pro" panose="02000503030000020004" pitchFamily="50" charset="-52"/>
              </a:rPr>
              <a:t>6 </a:t>
            </a:r>
            <a:r>
              <a:rPr lang="ru-RU" sz="2000" dirty="0">
                <a:solidFill>
                  <a:schemeClr val="bg1"/>
                </a:solidFill>
                <a:latin typeface="Elektra Text Pro" panose="02000503030000020004" pitchFamily="50" charset="-52"/>
              </a:rPr>
              <a:t>семестр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9501" y="4897743"/>
            <a:ext cx="3846286" cy="52322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Студент группы 6302-010302</a:t>
            </a:r>
            <a:r>
              <a:rPr lang="en-US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D</a:t>
            </a:r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,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Макаров Я.М</a:t>
            </a:r>
            <a:r>
              <a:rPr lang="en-US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.</a:t>
            </a:r>
            <a:endParaRPr lang="ru-RU" sz="1400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99501" y="6093318"/>
            <a:ext cx="3846286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Самара, 2026</a:t>
            </a:r>
          </a:p>
        </p:txBody>
      </p:sp>
    </p:spTree>
    <p:extLst>
      <p:ext uri="{BB962C8B-B14F-4D97-AF65-F5344CB8AC3E}">
        <p14:creationId xmlns:p14="http://schemas.microsoft.com/office/powerpoint/2010/main" val="3482473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0348" y="1476869"/>
            <a:ext cx="107713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B2D31"/>
                </a:solidFill>
                <a:effectLst/>
                <a:latin typeface="Inter"/>
              </a:rPr>
              <a:t>Создание собственной базы данных облаков точек, имитирующей сканирование реальной технической системой</a:t>
            </a:r>
          </a:p>
          <a:p>
            <a:endParaRPr lang="ru-RU" b="0" i="0" dirty="0">
              <a:solidFill>
                <a:srgbClr val="2B2D31"/>
              </a:solidFill>
              <a:effectLst/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B2D31"/>
                </a:solidFill>
                <a:effectLst/>
                <a:latin typeface="Inter"/>
              </a:rPr>
              <a:t>Апробация </a:t>
            </a:r>
            <a:r>
              <a:rPr lang="ru-RU" b="0" i="0" dirty="0" err="1">
                <a:solidFill>
                  <a:srgbClr val="2B2D31"/>
                </a:solidFill>
                <a:effectLst/>
                <a:latin typeface="Inter"/>
              </a:rPr>
              <a:t>предобученных</a:t>
            </a:r>
            <a:r>
              <a:rPr lang="ru-RU" b="0" i="0" dirty="0">
                <a:solidFill>
                  <a:srgbClr val="2B2D31"/>
                </a:solidFill>
                <a:effectLst/>
                <a:latin typeface="Inter"/>
              </a:rPr>
              <a:t> нейросетевых алгоритмов на созданной базе данных, тестирование, отбор моделей для дообучения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146662" y="301539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Цели 6-го семестра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2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ED461D-1B63-0B6F-0D93-939310866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467" y="2954197"/>
            <a:ext cx="5383064" cy="291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022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03564" y="1046563"/>
            <a:ext cx="107713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0" dirty="0">
                <a:solidFill>
                  <a:srgbClr val="2B2D31"/>
                </a:solidFill>
                <a:effectLst/>
                <a:latin typeface="Inter"/>
              </a:rPr>
              <a:t>Источники: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B2D31"/>
                </a:solidFill>
                <a:latin typeface="Inter"/>
              </a:rPr>
              <a:t>Готовые облака точек </a:t>
            </a:r>
            <a:r>
              <a:rPr lang="en-US" dirty="0" err="1">
                <a:solidFill>
                  <a:srgbClr val="2B2D31"/>
                </a:solidFill>
                <a:latin typeface="Inter"/>
              </a:rPr>
              <a:t>Shapenet</a:t>
            </a:r>
            <a:r>
              <a:rPr lang="en-US" dirty="0">
                <a:solidFill>
                  <a:srgbClr val="2B2D31"/>
                </a:solidFill>
                <a:latin typeface="Inter"/>
              </a:rPr>
              <a:t> (.ply)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B2D31"/>
                </a:solidFill>
                <a:latin typeface="Inter"/>
              </a:rPr>
              <a:t>3</a:t>
            </a:r>
            <a:r>
              <a:rPr lang="en-US" dirty="0">
                <a:solidFill>
                  <a:srgbClr val="2B2D31"/>
                </a:solidFill>
                <a:latin typeface="Inter"/>
              </a:rPr>
              <a:t>D</a:t>
            </a:r>
            <a:r>
              <a:rPr lang="ru-RU" dirty="0">
                <a:solidFill>
                  <a:srgbClr val="2B2D31"/>
                </a:solidFill>
                <a:latin typeface="Inter"/>
              </a:rPr>
              <a:t>-модели </a:t>
            </a:r>
            <a:r>
              <a:rPr lang="en-US" dirty="0">
                <a:solidFill>
                  <a:srgbClr val="2B2D31"/>
                </a:solidFill>
                <a:latin typeface="Inter"/>
              </a:rPr>
              <a:t>.obj </a:t>
            </a:r>
            <a:r>
              <a:rPr lang="ru-RU" dirty="0">
                <a:solidFill>
                  <a:srgbClr val="2B2D31"/>
                </a:solidFill>
                <a:latin typeface="Inter"/>
              </a:rPr>
              <a:t>из открытых коллекций</a:t>
            </a:r>
          </a:p>
          <a:p>
            <a:r>
              <a:rPr lang="ru-RU" dirty="0">
                <a:solidFill>
                  <a:srgbClr val="2B2D31"/>
                </a:solidFill>
                <a:latin typeface="Inter"/>
              </a:rPr>
              <a:t>Процесс: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B2D31"/>
                </a:solidFill>
                <a:latin typeface="Inter"/>
              </a:rPr>
              <a:t>Равномерное семплирование меша в</a:t>
            </a:r>
            <a:r>
              <a:rPr lang="en-US" dirty="0">
                <a:solidFill>
                  <a:srgbClr val="2B2D31"/>
                </a:solidFill>
                <a:latin typeface="Inter"/>
              </a:rPr>
              <a:t> </a:t>
            </a:r>
            <a:r>
              <a:rPr lang="ru-RU" dirty="0">
                <a:solidFill>
                  <a:srgbClr val="2B2D31"/>
                </a:solidFill>
                <a:latin typeface="Inter"/>
              </a:rPr>
              <a:t>полное облако (эталонное)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B2D31"/>
                </a:solidFill>
                <a:latin typeface="Inter"/>
              </a:rPr>
              <a:t>Симуляция камерной окклюзии в</a:t>
            </a:r>
            <a:r>
              <a:rPr lang="en-US" dirty="0">
                <a:solidFill>
                  <a:srgbClr val="2B2D31"/>
                </a:solidFill>
                <a:latin typeface="Inter"/>
              </a:rPr>
              <a:t> </a:t>
            </a:r>
            <a:r>
              <a:rPr lang="ru-RU" dirty="0">
                <a:solidFill>
                  <a:srgbClr val="2B2D31"/>
                </a:solidFill>
                <a:latin typeface="Inter"/>
              </a:rPr>
              <a:t>частичное облако</a:t>
            </a:r>
          </a:p>
          <a:p>
            <a:r>
              <a:rPr lang="ru-RU" dirty="0">
                <a:solidFill>
                  <a:srgbClr val="2B2D31"/>
                </a:solidFill>
                <a:latin typeface="Inter"/>
              </a:rPr>
              <a:t>Результат: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B2D31"/>
                </a:solidFill>
                <a:latin typeface="Inter"/>
              </a:rPr>
              <a:t>8000 пар </a:t>
            </a:r>
            <a:r>
              <a:rPr lang="en-US" dirty="0">
                <a:solidFill>
                  <a:srgbClr val="2B2D31"/>
                </a:solidFill>
                <a:latin typeface="Inter"/>
              </a:rPr>
              <a:t>“</a:t>
            </a:r>
            <a:r>
              <a:rPr lang="ru-RU" dirty="0">
                <a:solidFill>
                  <a:srgbClr val="2B2D31"/>
                </a:solidFill>
                <a:latin typeface="Inter"/>
              </a:rPr>
              <a:t>частичное – полное облако</a:t>
            </a:r>
            <a:r>
              <a:rPr lang="en-US" dirty="0">
                <a:solidFill>
                  <a:srgbClr val="2B2D31"/>
                </a:solidFill>
                <a:latin typeface="Inter"/>
              </a:rPr>
              <a:t>”</a:t>
            </a:r>
            <a:r>
              <a:rPr lang="ru-RU" dirty="0">
                <a:solidFill>
                  <a:srgbClr val="2B2D31"/>
                </a:solidFill>
                <a:latin typeface="Inter"/>
              </a:rPr>
              <a:t>, кроме того объекты в формате </a:t>
            </a:r>
            <a:r>
              <a:rPr lang="en-US" dirty="0">
                <a:solidFill>
                  <a:srgbClr val="2B2D31"/>
                </a:solidFill>
                <a:latin typeface="Inter"/>
              </a:rPr>
              <a:t>.obj</a:t>
            </a:r>
            <a:r>
              <a:rPr lang="ru-RU" dirty="0">
                <a:solidFill>
                  <a:srgbClr val="2B2D31"/>
                </a:solidFill>
                <a:latin typeface="Inter"/>
              </a:rPr>
              <a:t> </a:t>
            </a:r>
            <a:r>
              <a:rPr lang="en-US" dirty="0">
                <a:solidFill>
                  <a:srgbClr val="2B2D31"/>
                </a:solidFill>
                <a:latin typeface="Inter"/>
              </a:rPr>
              <a:t> 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146662" y="301539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Создание базы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3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533FCF-6BB8-D721-A104-C347326BC7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422" y="3354887"/>
            <a:ext cx="4961890" cy="28321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834CB0-598A-BADE-6FA2-CDD4F888F8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32" y="3494587"/>
            <a:ext cx="5292436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966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03564" y="1046563"/>
            <a:ext cx="1077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146662" y="301539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Модели восстановления облака точек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4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3DE74ED-3919-CE52-C44B-05BC29B46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888954"/>
              </p:ext>
            </p:extLst>
          </p:nvPr>
        </p:nvGraphicFramePr>
        <p:xfrm>
          <a:off x="617134" y="938985"/>
          <a:ext cx="11144160" cy="20462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86040">
                  <a:extLst>
                    <a:ext uri="{9D8B030D-6E8A-4147-A177-3AD203B41FA5}">
                      <a16:colId xmlns:a16="http://schemas.microsoft.com/office/drawing/2014/main" val="2604517156"/>
                    </a:ext>
                  </a:extLst>
                </a:gridCol>
                <a:gridCol w="2786040">
                  <a:extLst>
                    <a:ext uri="{9D8B030D-6E8A-4147-A177-3AD203B41FA5}">
                      <a16:colId xmlns:a16="http://schemas.microsoft.com/office/drawing/2014/main" val="2722800785"/>
                    </a:ext>
                  </a:extLst>
                </a:gridCol>
                <a:gridCol w="2786040">
                  <a:extLst>
                    <a:ext uri="{9D8B030D-6E8A-4147-A177-3AD203B41FA5}">
                      <a16:colId xmlns:a16="http://schemas.microsoft.com/office/drawing/2014/main" val="434148497"/>
                    </a:ext>
                  </a:extLst>
                </a:gridCol>
                <a:gridCol w="2786040">
                  <a:extLst>
                    <a:ext uri="{9D8B030D-6E8A-4147-A177-3AD203B41FA5}">
                      <a16:colId xmlns:a16="http://schemas.microsoft.com/office/drawing/2014/main" val="990719096"/>
                    </a:ext>
                  </a:extLst>
                </a:gridCol>
              </a:tblGrid>
              <a:tr h="62245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 dirty="0">
                          <a:effectLst/>
                          <a:latin typeface="Inter"/>
                        </a:rPr>
                        <a:t>Модель</a:t>
                      </a:r>
                      <a:endParaRPr lang="ru-RU" sz="1800" dirty="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Inter"/>
                        </a:rPr>
                        <a:t>CD_L1</a:t>
                      </a:r>
                      <a:endParaRPr lang="ru-RU" sz="1800" dirty="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Inter"/>
                        </a:rPr>
                        <a:t>CD_L2</a:t>
                      </a:r>
                      <a:endParaRPr lang="ru-RU" sz="180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Inter"/>
                        </a:rPr>
                        <a:t>F-Score@1%</a:t>
                      </a:r>
                      <a:endParaRPr lang="ru-RU" sz="180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3378451"/>
                  </a:ext>
                </a:extLst>
              </a:tr>
              <a:tr h="400678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effectLst/>
                          <a:latin typeface="Inter"/>
                        </a:rPr>
                        <a:t>PoinTr</a:t>
                      </a:r>
                      <a:endParaRPr lang="ru-RU" sz="1800" dirty="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 dirty="0">
                          <a:effectLst/>
                          <a:latin typeface="Inter"/>
                        </a:rPr>
                        <a:t>20.3</a:t>
                      </a:r>
                      <a:endParaRPr lang="ru-RU" sz="1800" dirty="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Inter"/>
                        </a:rPr>
                        <a:t>98.4</a:t>
                      </a:r>
                      <a:endParaRPr lang="ru-RU" sz="180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 dirty="0">
                          <a:effectLst/>
                          <a:latin typeface="Inter"/>
                        </a:rPr>
                        <a:t>4.84 %</a:t>
                      </a:r>
                      <a:endParaRPr lang="ru-RU" sz="1800" dirty="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1952278"/>
                  </a:ext>
                </a:extLst>
              </a:tr>
              <a:tr h="400678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Inter"/>
                        </a:rPr>
                        <a:t>PCN</a:t>
                      </a:r>
                      <a:endParaRPr lang="ru-RU" sz="1800" dirty="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 dirty="0">
                          <a:effectLst/>
                          <a:latin typeface="Inter"/>
                        </a:rPr>
                        <a:t>78.4</a:t>
                      </a:r>
                      <a:endParaRPr lang="ru-RU" sz="1800" dirty="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Inter"/>
                        </a:rPr>
                        <a:t>477.6</a:t>
                      </a:r>
                      <a:endParaRPr lang="ru-RU" sz="180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 dirty="0">
                          <a:effectLst/>
                          <a:latin typeface="Inter"/>
                        </a:rPr>
                        <a:t>7.63 %</a:t>
                      </a:r>
                      <a:endParaRPr lang="ru-RU" sz="1800" dirty="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8099902"/>
                  </a:ext>
                </a:extLst>
              </a:tr>
              <a:tr h="62245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effectLst/>
                          <a:latin typeface="Inter"/>
                        </a:rPr>
                        <a:t>SnowflakeNet</a:t>
                      </a:r>
                      <a:endParaRPr lang="ru-RU" sz="1800" dirty="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Inter"/>
                        </a:rPr>
                        <a:t>87.2</a:t>
                      </a:r>
                      <a:endParaRPr lang="ru-RU" sz="180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 dirty="0">
                          <a:effectLst/>
                          <a:latin typeface="Inter"/>
                        </a:rPr>
                        <a:t>287.8</a:t>
                      </a:r>
                      <a:endParaRPr lang="ru-RU" sz="1800" dirty="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 dirty="0">
                          <a:effectLst/>
                          <a:latin typeface="Inter"/>
                        </a:rPr>
                        <a:t>2.01 %</a:t>
                      </a:r>
                      <a:endParaRPr lang="ru-RU" sz="1800" dirty="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5262266"/>
                  </a:ext>
                </a:extLst>
              </a:tr>
            </a:tbl>
          </a:graphicData>
        </a:graphic>
      </p:graphicFrame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7F05BD-58C5-19F6-8C2F-94DBAF2DA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821" y="3208472"/>
            <a:ext cx="4564356" cy="313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688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03564" y="1046563"/>
            <a:ext cx="1077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146662" y="301539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Модели реконструкции меша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5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3DE74ED-3919-CE52-C44B-05BC29B46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178363"/>
              </p:ext>
            </p:extLst>
          </p:nvPr>
        </p:nvGraphicFramePr>
        <p:xfrm>
          <a:off x="617134" y="938985"/>
          <a:ext cx="11144160" cy="20462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8832">
                  <a:extLst>
                    <a:ext uri="{9D8B030D-6E8A-4147-A177-3AD203B41FA5}">
                      <a16:colId xmlns:a16="http://schemas.microsoft.com/office/drawing/2014/main" val="2604517156"/>
                    </a:ext>
                  </a:extLst>
                </a:gridCol>
                <a:gridCol w="2228832">
                  <a:extLst>
                    <a:ext uri="{9D8B030D-6E8A-4147-A177-3AD203B41FA5}">
                      <a16:colId xmlns:a16="http://schemas.microsoft.com/office/drawing/2014/main" val="481785759"/>
                    </a:ext>
                  </a:extLst>
                </a:gridCol>
                <a:gridCol w="2228832">
                  <a:extLst>
                    <a:ext uri="{9D8B030D-6E8A-4147-A177-3AD203B41FA5}">
                      <a16:colId xmlns:a16="http://schemas.microsoft.com/office/drawing/2014/main" val="2722800785"/>
                    </a:ext>
                  </a:extLst>
                </a:gridCol>
                <a:gridCol w="2228832">
                  <a:extLst>
                    <a:ext uri="{9D8B030D-6E8A-4147-A177-3AD203B41FA5}">
                      <a16:colId xmlns:a16="http://schemas.microsoft.com/office/drawing/2014/main" val="434148497"/>
                    </a:ext>
                  </a:extLst>
                </a:gridCol>
                <a:gridCol w="2228832">
                  <a:extLst>
                    <a:ext uri="{9D8B030D-6E8A-4147-A177-3AD203B41FA5}">
                      <a16:colId xmlns:a16="http://schemas.microsoft.com/office/drawing/2014/main" val="990719096"/>
                    </a:ext>
                  </a:extLst>
                </a:gridCol>
              </a:tblGrid>
              <a:tr h="62245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 dirty="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Метод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CD</a:t>
                      </a:r>
                      <a:endParaRPr lang="ru-RU" sz="180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F-Score@1%</a:t>
                      </a:r>
                      <a:endParaRPr lang="ru-RU" sz="180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NC</a:t>
                      </a:r>
                      <a:endParaRPr lang="ru-RU" sz="180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IoU</a:t>
                      </a:r>
                      <a:endParaRPr lang="ru-RU" sz="180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3378451"/>
                  </a:ext>
                </a:extLst>
              </a:tr>
              <a:tr h="400678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PPSurf</a:t>
                      </a:r>
                      <a:endParaRPr lang="ru-RU" sz="180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 dirty="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0.06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54.3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0.36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1952278"/>
                  </a:ext>
                </a:extLst>
              </a:tr>
              <a:tr h="400678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NKSR</a:t>
                      </a:r>
                      <a:endParaRPr lang="ru-RU" sz="180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 dirty="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0.07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 dirty="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47.8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0.67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8099902"/>
                  </a:ext>
                </a:extLst>
              </a:tr>
              <a:tr h="62245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ScreenedPoisson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0.127</a:t>
                      </a:r>
                      <a:endParaRPr lang="ru-RU" sz="180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12</a:t>
                      </a:r>
                      <a:endParaRPr lang="ru-RU" sz="1800" dirty="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1.57</a:t>
                      </a:r>
                      <a:endParaRPr lang="ru-RU" sz="1800" dirty="0">
                        <a:effectLst/>
                        <a:latin typeface="Inter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800" dirty="0">
                          <a:effectLst/>
                          <a:latin typeface="Inter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5262266"/>
                  </a:ext>
                </a:extLst>
              </a:tr>
            </a:tbl>
          </a:graphicData>
        </a:graphic>
      </p:graphicFrame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7F05BD-58C5-19F6-8C2F-94DBAF2DA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134" y="3432482"/>
            <a:ext cx="6512985" cy="2739718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67B6CED-4068-1CE0-6DCD-B2700331DD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252" y="3429000"/>
            <a:ext cx="4487042" cy="273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192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27734" y="2613399"/>
            <a:ext cx="3831772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Elektra Text Pro" panose="02000503030000020004" pitchFamily="50" charset="-52"/>
              </a:rPr>
              <a:t>БЛАГОДАРЮ </a:t>
            </a:r>
          </a:p>
          <a:p>
            <a:pPr algn="ctr"/>
            <a:r>
              <a:rPr lang="ru-RU" sz="2400" b="1" dirty="0">
                <a:solidFill>
                  <a:schemeClr val="bg1"/>
                </a:solidFill>
                <a:latin typeface="Elektra Text Pro" panose="02000503030000020004" pitchFamily="50" charset="-52"/>
              </a:rPr>
              <a:t>ЗА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0477" y="4779040"/>
            <a:ext cx="3846286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Макаров Ярослав</a:t>
            </a:r>
          </a:p>
        </p:txBody>
      </p:sp>
    </p:spTree>
    <p:extLst>
      <p:ext uri="{BB962C8B-B14F-4D97-AF65-F5344CB8AC3E}">
        <p14:creationId xmlns:p14="http://schemas.microsoft.com/office/powerpoint/2010/main" val="4512463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3078</TotalTime>
  <Words>178</Words>
  <Application>Microsoft Office PowerPoint</Application>
  <PresentationFormat>Широкоэкранный</PresentationFormat>
  <Paragraphs>67</Paragraphs>
  <Slides>6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Elektra Medium Pro</vt:lpstr>
      <vt:lpstr>Elektra Text Pro</vt:lpstr>
      <vt:lpstr>Inter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Степанов</dc:creator>
  <cp:lastModifiedBy>ОтчеНазес</cp:lastModifiedBy>
  <cp:revision>99</cp:revision>
  <dcterms:created xsi:type="dcterms:W3CDTF">2016-03-09T10:31:39Z</dcterms:created>
  <dcterms:modified xsi:type="dcterms:W3CDTF">2026-05-03T16:41:43Z</dcterms:modified>
</cp:coreProperties>
</file>